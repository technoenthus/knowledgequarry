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Arimo Italics" charset="1" panose="020B0604020202090204"/>
      <p:regular r:id="rId21"/>
    </p:embeddedFont>
    <p:embeddedFont>
      <p:font typeface="Calibri (MS) Bold" charset="1" panose="020F0702030404030204"/>
      <p:regular r:id="rId22"/>
    </p:embeddedFont>
    <p:embeddedFont>
      <p:font typeface="Arimo Bold Italics" charset="1" panose="020B0704020202090204"/>
      <p:regular r:id="rId23"/>
    </p:embeddedFont>
    <p:embeddedFont>
      <p:font typeface="Poppin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357" y="495357"/>
            <a:ext cx="17295838" cy="9295200"/>
            <a:chOff x="0" y="0"/>
            <a:chExt cx="23061117" cy="123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1040" cy="12393550"/>
            </a:xfrm>
            <a:custGeom>
              <a:avLst/>
              <a:gdLst/>
              <a:ahLst/>
              <a:cxnLst/>
              <a:rect r="r" b="b" t="t" l="l"/>
              <a:pathLst>
                <a:path h="12393550" w="23061040">
                  <a:moveTo>
                    <a:pt x="0" y="418719"/>
                  </a:moveTo>
                  <a:cubicBezTo>
                    <a:pt x="0" y="187452"/>
                    <a:pt x="187452" y="0"/>
                    <a:pt x="418719" y="0"/>
                  </a:cubicBezTo>
                  <a:lnTo>
                    <a:pt x="22642322" y="0"/>
                  </a:lnTo>
                  <a:cubicBezTo>
                    <a:pt x="22873588" y="0"/>
                    <a:pt x="23061040" y="187452"/>
                    <a:pt x="23061040" y="418719"/>
                  </a:cubicBezTo>
                  <a:lnTo>
                    <a:pt x="23061040" y="11974830"/>
                  </a:lnTo>
                  <a:cubicBezTo>
                    <a:pt x="23061040" y="12206098"/>
                    <a:pt x="22873588" y="12393550"/>
                    <a:pt x="22642322" y="12393550"/>
                  </a:cubicBezTo>
                  <a:lnTo>
                    <a:pt x="418719" y="12393550"/>
                  </a:lnTo>
                  <a:cubicBezTo>
                    <a:pt x="187452" y="12393549"/>
                    <a:pt x="0" y="12206097"/>
                    <a:pt x="0" y="11974830"/>
                  </a:cubicBezTo>
                  <a:close/>
                </a:path>
              </a:pathLst>
            </a:custGeom>
            <a:solidFill>
              <a:srgbClr val="FFF7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2883" y="781202"/>
            <a:ext cx="8133836" cy="5028480"/>
            <a:chOff x="0" y="0"/>
            <a:chExt cx="10845114" cy="6704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45120" cy="6704646"/>
            </a:xfrm>
            <a:custGeom>
              <a:avLst/>
              <a:gdLst/>
              <a:ahLst/>
              <a:cxnLst/>
              <a:rect r="r" b="b" t="t" l="l"/>
              <a:pathLst>
                <a:path h="6704646" w="10845120">
                  <a:moveTo>
                    <a:pt x="0" y="0"/>
                  </a:moveTo>
                  <a:lnTo>
                    <a:pt x="10845120" y="0"/>
                  </a:lnTo>
                  <a:lnTo>
                    <a:pt x="10845120" y="6704646"/>
                  </a:lnTo>
                  <a:lnTo>
                    <a:pt x="0" y="67046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319" t="0" r="-29319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14300"/>
              <a:ext cx="10845114" cy="659034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872"/>
                </a:lnSpc>
              </a:pPr>
              <a:r>
                <a:rPr lang="en-US" sz="8200" b="true">
                  <a:solidFill>
                    <a:srgbClr val="0D4A8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Learning Under Constraints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713967" y="3697338"/>
            <a:ext cx="7315200" cy="2788920"/>
          </a:xfrm>
          <a:custGeom>
            <a:avLst/>
            <a:gdLst/>
            <a:ahLst/>
            <a:cxnLst/>
            <a:rect r="r" b="b" t="t" l="l"/>
            <a:pathLst>
              <a:path h="2788920" w="7315200">
                <a:moveTo>
                  <a:pt x="0" y="0"/>
                </a:moveTo>
                <a:lnTo>
                  <a:pt x="7315200" y="0"/>
                </a:lnTo>
                <a:lnTo>
                  <a:pt x="7315200" y="2788920"/>
                </a:lnTo>
                <a:lnTo>
                  <a:pt x="0" y="2788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2883" y="5971908"/>
            <a:ext cx="813383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KnowledgeQuarry · Convoke 8.0</a:t>
            </a:r>
          </a:p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Problem 02 (ML Engineering)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4968" y="7764506"/>
            <a:ext cx="813383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Disha Malhotra</a:t>
            </a:r>
          </a:p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Disha Rathore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357" y="495357"/>
            <a:ext cx="17295838" cy="9295200"/>
            <a:chOff x="0" y="0"/>
            <a:chExt cx="23061117" cy="123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1040" cy="12393550"/>
            </a:xfrm>
            <a:custGeom>
              <a:avLst/>
              <a:gdLst/>
              <a:ahLst/>
              <a:cxnLst/>
              <a:rect r="r" b="b" t="t" l="l"/>
              <a:pathLst>
                <a:path h="12393550" w="23061040">
                  <a:moveTo>
                    <a:pt x="0" y="418719"/>
                  </a:moveTo>
                  <a:cubicBezTo>
                    <a:pt x="0" y="187452"/>
                    <a:pt x="187452" y="0"/>
                    <a:pt x="418719" y="0"/>
                  </a:cubicBezTo>
                  <a:lnTo>
                    <a:pt x="22642322" y="0"/>
                  </a:lnTo>
                  <a:cubicBezTo>
                    <a:pt x="22873588" y="0"/>
                    <a:pt x="23061040" y="187452"/>
                    <a:pt x="23061040" y="418719"/>
                  </a:cubicBezTo>
                  <a:lnTo>
                    <a:pt x="23061040" y="11974830"/>
                  </a:lnTo>
                  <a:cubicBezTo>
                    <a:pt x="23061040" y="12206098"/>
                    <a:pt x="22873588" y="12393550"/>
                    <a:pt x="22642322" y="12393550"/>
                  </a:cubicBezTo>
                  <a:lnTo>
                    <a:pt x="418719" y="12393550"/>
                  </a:lnTo>
                  <a:cubicBezTo>
                    <a:pt x="187452" y="12393549"/>
                    <a:pt x="0" y="12206097"/>
                    <a:pt x="0" y="11974830"/>
                  </a:cubicBezTo>
                  <a:close/>
                </a:path>
              </a:pathLst>
            </a:custGeom>
            <a:solidFill>
              <a:srgbClr val="FFF7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9891" y="2571483"/>
            <a:ext cx="6138636" cy="5560102"/>
            <a:chOff x="0" y="0"/>
            <a:chExt cx="6356160" cy="5757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6223" cy="5757164"/>
            </a:xfrm>
            <a:custGeom>
              <a:avLst/>
              <a:gdLst/>
              <a:ahLst/>
              <a:cxnLst/>
              <a:rect r="r" b="b" t="t" l="l"/>
              <a:pathLst>
                <a:path h="5757164" w="6356223">
                  <a:moveTo>
                    <a:pt x="0" y="2878582"/>
                  </a:moveTo>
                  <a:cubicBezTo>
                    <a:pt x="0" y="1288796"/>
                    <a:pt x="1422908" y="0"/>
                    <a:pt x="3178048" y="0"/>
                  </a:cubicBezTo>
                  <a:cubicBezTo>
                    <a:pt x="4933188" y="0"/>
                    <a:pt x="6356223" y="1288796"/>
                    <a:pt x="6356223" y="2878582"/>
                  </a:cubicBezTo>
                  <a:cubicBezTo>
                    <a:pt x="6356223" y="4468368"/>
                    <a:pt x="4933315" y="5757164"/>
                    <a:pt x="3178048" y="5757164"/>
                  </a:cubicBezTo>
                  <a:cubicBezTo>
                    <a:pt x="1422781" y="5757164"/>
                    <a:pt x="0" y="4468368"/>
                    <a:pt x="0" y="2878582"/>
                  </a:cubicBezTo>
                  <a:close/>
                </a:path>
              </a:pathLst>
            </a:custGeom>
            <a:blipFill>
              <a:blip r:embed="rId2"/>
              <a:stretch>
                <a:fillRect l="-26" t="0" r="-2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53438" y="781202"/>
            <a:ext cx="10305364" cy="3580562"/>
            <a:chOff x="0" y="0"/>
            <a:chExt cx="13740486" cy="47740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40481" cy="4774080"/>
            </a:xfrm>
            <a:custGeom>
              <a:avLst/>
              <a:gdLst/>
              <a:ahLst/>
              <a:cxnLst/>
              <a:rect r="r" b="b" t="t" l="l"/>
              <a:pathLst>
                <a:path h="4774080" w="13740481">
                  <a:moveTo>
                    <a:pt x="0" y="0"/>
                  </a:moveTo>
                  <a:lnTo>
                    <a:pt x="13740481" y="0"/>
                  </a:lnTo>
                  <a:lnTo>
                    <a:pt x="13740481" y="4774080"/>
                  </a:lnTo>
                  <a:lnTo>
                    <a:pt x="0" y="4774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0" r="0" b="-608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0"/>
              <a:ext cx="13740486" cy="467883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6336"/>
                </a:lnSpc>
              </a:pPr>
              <a:r>
                <a:rPr lang="en-US" sz="6600" b="true">
                  <a:solidFill>
                    <a:srgbClr val="0D4A8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Introduction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553438" y="4381443"/>
            <a:ext cx="10305364" cy="458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84"/>
              </a:lnSpc>
            </a:pP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Our goal: 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optimize multi-agent deliveries under limited energy and capacity using </a:t>
            </a:r>
            <a:r>
              <a:rPr lang="en-US" sz="32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reinforcement learning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 Episodes simulate a 10×10 warehouse with 8 tasks. </a:t>
            </a:r>
          </a:p>
          <a:p>
            <a:pPr algn="r">
              <a:lnSpc>
                <a:spcPts val="5184"/>
              </a:lnSpc>
            </a:pPr>
          </a:p>
          <a:p>
            <a:pPr algn="r">
              <a:lnSpc>
                <a:spcPts val="5184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 apply </a:t>
            </a: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Q-Learning (ε-greedy)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to learn assignment and dispatch policies, comparing against </a:t>
            </a:r>
            <a:r>
              <a:rPr lang="en-US" sz="32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Random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and </a:t>
            </a:r>
            <a:r>
              <a:rPr lang="en-US" sz="32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Greedy nearest-task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baselines.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671201" y="2247843"/>
            <a:ext cx="180718" cy="213836"/>
            <a:chOff x="0" y="0"/>
            <a:chExt cx="240957" cy="285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27"/>
              <a:ext cx="240919" cy="284988"/>
            </a:xfrm>
            <a:custGeom>
              <a:avLst/>
              <a:gdLst/>
              <a:ahLst/>
              <a:cxnLst/>
              <a:rect r="r" b="b" t="t" l="l"/>
              <a:pathLst>
                <a:path h="284988" w="240919">
                  <a:moveTo>
                    <a:pt x="121539" y="0"/>
                  </a:moveTo>
                  <a:lnTo>
                    <a:pt x="79629" y="94234"/>
                  </a:lnTo>
                  <a:lnTo>
                    <a:pt x="0" y="144526"/>
                  </a:lnTo>
                  <a:lnTo>
                    <a:pt x="79629" y="190627"/>
                  </a:lnTo>
                  <a:lnTo>
                    <a:pt x="121539" y="284988"/>
                  </a:lnTo>
                  <a:lnTo>
                    <a:pt x="165481" y="190627"/>
                  </a:lnTo>
                  <a:lnTo>
                    <a:pt x="240919" y="144526"/>
                  </a:lnTo>
                  <a:lnTo>
                    <a:pt x="165481" y="94234"/>
                  </a:lnTo>
                  <a:lnTo>
                    <a:pt x="121539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65361" y="3214802"/>
            <a:ext cx="179280" cy="213836"/>
            <a:chOff x="0" y="0"/>
            <a:chExt cx="239039" cy="2851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" y="0"/>
              <a:ext cx="238887" cy="285115"/>
            </a:xfrm>
            <a:custGeom>
              <a:avLst/>
              <a:gdLst/>
              <a:ahLst/>
              <a:cxnLst/>
              <a:rect r="r" b="b" t="t" l="l"/>
              <a:pathLst>
                <a:path h="285115" w="238887">
                  <a:moveTo>
                    <a:pt x="121539" y="0"/>
                  </a:moveTo>
                  <a:lnTo>
                    <a:pt x="75438" y="96520"/>
                  </a:lnTo>
                  <a:lnTo>
                    <a:pt x="0" y="142494"/>
                  </a:lnTo>
                  <a:lnTo>
                    <a:pt x="75438" y="190754"/>
                  </a:lnTo>
                  <a:lnTo>
                    <a:pt x="121539" y="285115"/>
                  </a:lnTo>
                  <a:lnTo>
                    <a:pt x="163449" y="190754"/>
                  </a:lnTo>
                  <a:lnTo>
                    <a:pt x="238887" y="142494"/>
                  </a:lnTo>
                  <a:lnTo>
                    <a:pt x="163449" y="96520"/>
                  </a:lnTo>
                  <a:lnTo>
                    <a:pt x="121539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68000" y="6778076"/>
            <a:ext cx="394564" cy="470164"/>
            <a:chOff x="0" y="0"/>
            <a:chExt cx="526085" cy="6268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0"/>
              <a:ext cx="526034" cy="626872"/>
            </a:xfrm>
            <a:custGeom>
              <a:avLst/>
              <a:gdLst/>
              <a:ahLst/>
              <a:cxnLst/>
              <a:rect r="r" b="b" t="t" l="l"/>
              <a:pathLst>
                <a:path h="626872" w="526034">
                  <a:moveTo>
                    <a:pt x="261874" y="0"/>
                  </a:moveTo>
                  <a:lnTo>
                    <a:pt x="167513" y="209677"/>
                  </a:lnTo>
                  <a:lnTo>
                    <a:pt x="0" y="314452"/>
                  </a:lnTo>
                  <a:lnTo>
                    <a:pt x="167640" y="417195"/>
                  </a:lnTo>
                  <a:lnTo>
                    <a:pt x="262001" y="626872"/>
                  </a:lnTo>
                  <a:lnTo>
                    <a:pt x="356362" y="417195"/>
                  </a:lnTo>
                  <a:lnTo>
                    <a:pt x="526034" y="314452"/>
                  </a:lnTo>
                  <a:lnTo>
                    <a:pt x="356362" y="209550"/>
                  </a:lnTo>
                  <a:lnTo>
                    <a:pt x="261874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5676" y="7737119"/>
            <a:ext cx="180718" cy="213836"/>
            <a:chOff x="0" y="0"/>
            <a:chExt cx="240957" cy="2851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127"/>
              <a:ext cx="240919" cy="284988"/>
            </a:xfrm>
            <a:custGeom>
              <a:avLst/>
              <a:gdLst/>
              <a:ahLst/>
              <a:cxnLst/>
              <a:rect r="r" b="b" t="t" l="l"/>
              <a:pathLst>
                <a:path h="284988" w="240919">
                  <a:moveTo>
                    <a:pt x="121539" y="0"/>
                  </a:moveTo>
                  <a:lnTo>
                    <a:pt x="79629" y="94234"/>
                  </a:lnTo>
                  <a:lnTo>
                    <a:pt x="0" y="144526"/>
                  </a:lnTo>
                  <a:lnTo>
                    <a:pt x="79629" y="190627"/>
                  </a:lnTo>
                  <a:lnTo>
                    <a:pt x="121539" y="284988"/>
                  </a:lnTo>
                  <a:lnTo>
                    <a:pt x="165481" y="190627"/>
                  </a:lnTo>
                  <a:lnTo>
                    <a:pt x="240919" y="144526"/>
                  </a:lnTo>
                  <a:lnTo>
                    <a:pt x="165481" y="94234"/>
                  </a:lnTo>
                  <a:lnTo>
                    <a:pt x="121539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342324" y="2165042"/>
            <a:ext cx="318964" cy="378724"/>
            <a:chOff x="0" y="0"/>
            <a:chExt cx="425285" cy="5049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5196" cy="504825"/>
            </a:xfrm>
            <a:custGeom>
              <a:avLst/>
              <a:gdLst/>
              <a:ahLst/>
              <a:cxnLst/>
              <a:rect r="r" b="b" t="t" l="l"/>
              <a:pathLst>
                <a:path h="504825" w="425196">
                  <a:moveTo>
                    <a:pt x="211582" y="0"/>
                  </a:moveTo>
                  <a:lnTo>
                    <a:pt x="136144" y="167640"/>
                  </a:lnTo>
                  <a:lnTo>
                    <a:pt x="0" y="251460"/>
                  </a:lnTo>
                  <a:lnTo>
                    <a:pt x="136144" y="337312"/>
                  </a:lnTo>
                  <a:lnTo>
                    <a:pt x="211582" y="504825"/>
                  </a:lnTo>
                  <a:lnTo>
                    <a:pt x="289052" y="337312"/>
                  </a:lnTo>
                  <a:lnTo>
                    <a:pt x="425196" y="251460"/>
                  </a:lnTo>
                  <a:lnTo>
                    <a:pt x="289052" y="167640"/>
                  </a:lnTo>
                  <a:lnTo>
                    <a:pt x="211582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98560" y="6831359"/>
            <a:ext cx="394564" cy="470164"/>
            <a:chOff x="0" y="0"/>
            <a:chExt cx="526085" cy="62688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27" y="0"/>
              <a:ext cx="526034" cy="626872"/>
            </a:xfrm>
            <a:custGeom>
              <a:avLst/>
              <a:gdLst/>
              <a:ahLst/>
              <a:cxnLst/>
              <a:rect r="r" b="b" t="t" l="l"/>
              <a:pathLst>
                <a:path h="626872" w="526034">
                  <a:moveTo>
                    <a:pt x="261874" y="0"/>
                  </a:moveTo>
                  <a:lnTo>
                    <a:pt x="169672" y="209677"/>
                  </a:lnTo>
                  <a:lnTo>
                    <a:pt x="0" y="312293"/>
                  </a:lnTo>
                  <a:lnTo>
                    <a:pt x="169672" y="417195"/>
                  </a:lnTo>
                  <a:lnTo>
                    <a:pt x="261874" y="626872"/>
                  </a:lnTo>
                  <a:lnTo>
                    <a:pt x="356235" y="417195"/>
                  </a:lnTo>
                  <a:lnTo>
                    <a:pt x="526034" y="312293"/>
                  </a:lnTo>
                  <a:lnTo>
                    <a:pt x="356235" y="209550"/>
                  </a:lnTo>
                  <a:lnTo>
                    <a:pt x="261874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113284" y="8380800"/>
            <a:ext cx="179280" cy="213836"/>
            <a:chOff x="0" y="0"/>
            <a:chExt cx="239039" cy="2851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127"/>
              <a:ext cx="239014" cy="284988"/>
            </a:xfrm>
            <a:custGeom>
              <a:avLst/>
              <a:gdLst/>
              <a:ahLst/>
              <a:cxnLst/>
              <a:rect r="r" b="b" t="t" l="l"/>
              <a:pathLst>
                <a:path h="284988" w="239014">
                  <a:moveTo>
                    <a:pt x="117348" y="0"/>
                  </a:moveTo>
                  <a:lnTo>
                    <a:pt x="75565" y="94234"/>
                  </a:lnTo>
                  <a:lnTo>
                    <a:pt x="0" y="140335"/>
                  </a:lnTo>
                  <a:lnTo>
                    <a:pt x="75565" y="188468"/>
                  </a:lnTo>
                  <a:lnTo>
                    <a:pt x="117475" y="284988"/>
                  </a:lnTo>
                  <a:lnTo>
                    <a:pt x="161417" y="188468"/>
                  </a:lnTo>
                  <a:lnTo>
                    <a:pt x="239014" y="140335"/>
                  </a:lnTo>
                  <a:lnTo>
                    <a:pt x="161417" y="9423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357" y="495357"/>
            <a:ext cx="17295838" cy="9295200"/>
            <a:chOff x="0" y="0"/>
            <a:chExt cx="23061117" cy="123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1040" cy="12393550"/>
            </a:xfrm>
            <a:custGeom>
              <a:avLst/>
              <a:gdLst/>
              <a:ahLst/>
              <a:cxnLst/>
              <a:rect r="r" b="b" t="t" l="l"/>
              <a:pathLst>
                <a:path h="12393550" w="23061040">
                  <a:moveTo>
                    <a:pt x="0" y="418719"/>
                  </a:moveTo>
                  <a:cubicBezTo>
                    <a:pt x="0" y="187452"/>
                    <a:pt x="187452" y="0"/>
                    <a:pt x="418719" y="0"/>
                  </a:cubicBezTo>
                  <a:lnTo>
                    <a:pt x="22642322" y="0"/>
                  </a:lnTo>
                  <a:cubicBezTo>
                    <a:pt x="22873588" y="0"/>
                    <a:pt x="23061040" y="187452"/>
                    <a:pt x="23061040" y="418719"/>
                  </a:cubicBezTo>
                  <a:lnTo>
                    <a:pt x="23061040" y="11974830"/>
                  </a:lnTo>
                  <a:cubicBezTo>
                    <a:pt x="23061040" y="12206098"/>
                    <a:pt x="22873588" y="12393550"/>
                    <a:pt x="22642322" y="12393550"/>
                  </a:cubicBezTo>
                  <a:lnTo>
                    <a:pt x="418719" y="12393550"/>
                  </a:lnTo>
                  <a:cubicBezTo>
                    <a:pt x="187452" y="12393549"/>
                    <a:pt x="0" y="12206097"/>
                    <a:pt x="0" y="11974830"/>
                  </a:cubicBezTo>
                  <a:close/>
                </a:path>
              </a:pathLst>
            </a:custGeom>
            <a:solidFill>
              <a:srgbClr val="FFF7E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43997" y="798252"/>
            <a:ext cx="4388396" cy="201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b="true">
                <a:solidFill>
                  <a:srgbClr val="0D4A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2557" y="2857681"/>
            <a:ext cx="7238162" cy="2856957"/>
            <a:chOff x="0" y="0"/>
            <a:chExt cx="9650882" cy="38092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50880" cy="3809280"/>
            </a:xfrm>
            <a:custGeom>
              <a:avLst/>
              <a:gdLst/>
              <a:ahLst/>
              <a:cxnLst/>
              <a:rect r="r" b="b" t="t" l="l"/>
              <a:pathLst>
                <a:path h="3809280" w="9650880">
                  <a:moveTo>
                    <a:pt x="0" y="0"/>
                  </a:moveTo>
                  <a:lnTo>
                    <a:pt x="9650880" y="0"/>
                  </a:lnTo>
                  <a:lnTo>
                    <a:pt x="9650880" y="3809280"/>
                  </a:lnTo>
                  <a:lnTo>
                    <a:pt x="0" y="3809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2" t="0" r="-64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9650882" cy="3895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0D4A8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Methodology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22588" y="1591058"/>
            <a:ext cx="6644509" cy="7475401"/>
            <a:chOff x="0" y="0"/>
            <a:chExt cx="12191035" cy="13715517"/>
          </a:xfrm>
        </p:grpSpPr>
        <p:sp>
          <p:nvSpPr>
            <p:cNvPr name="Freeform 9" id="9" descr="image69d4823f76b3e"/>
            <p:cNvSpPr/>
            <p:nvPr/>
          </p:nvSpPr>
          <p:spPr>
            <a:xfrm flipH="false" flipV="false" rot="0">
              <a:off x="0" y="0"/>
              <a:ext cx="12190984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12190984">
                  <a:moveTo>
                    <a:pt x="0" y="0"/>
                  </a:moveTo>
                  <a:lnTo>
                    <a:pt x="12190984" y="0"/>
                  </a:lnTo>
                  <a:lnTo>
                    <a:pt x="12190984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0" r="-2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357" y="495357"/>
            <a:ext cx="17295838" cy="9295200"/>
            <a:chOff x="0" y="0"/>
            <a:chExt cx="23061117" cy="123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1040" cy="12393550"/>
            </a:xfrm>
            <a:custGeom>
              <a:avLst/>
              <a:gdLst/>
              <a:ahLst/>
              <a:cxnLst/>
              <a:rect r="r" b="b" t="t" l="l"/>
              <a:pathLst>
                <a:path h="12393550" w="23061040">
                  <a:moveTo>
                    <a:pt x="0" y="418719"/>
                  </a:moveTo>
                  <a:cubicBezTo>
                    <a:pt x="0" y="187452"/>
                    <a:pt x="187452" y="0"/>
                    <a:pt x="418719" y="0"/>
                  </a:cubicBezTo>
                  <a:lnTo>
                    <a:pt x="22642322" y="0"/>
                  </a:lnTo>
                  <a:cubicBezTo>
                    <a:pt x="22873588" y="0"/>
                    <a:pt x="23061040" y="187452"/>
                    <a:pt x="23061040" y="418719"/>
                  </a:cubicBezTo>
                  <a:lnTo>
                    <a:pt x="23061040" y="11974830"/>
                  </a:lnTo>
                  <a:cubicBezTo>
                    <a:pt x="23061040" y="12206098"/>
                    <a:pt x="22873588" y="12393550"/>
                    <a:pt x="22642322" y="12393550"/>
                  </a:cubicBezTo>
                  <a:lnTo>
                    <a:pt x="418719" y="12393550"/>
                  </a:lnTo>
                  <a:cubicBezTo>
                    <a:pt x="187452" y="12393549"/>
                    <a:pt x="0" y="12206097"/>
                    <a:pt x="0" y="11974830"/>
                  </a:cubicBezTo>
                  <a:close/>
                </a:path>
              </a:pathLst>
            </a:custGeom>
            <a:solidFill>
              <a:srgbClr val="FFF7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96557" y="1217000"/>
            <a:ext cx="7238162" cy="2638958"/>
            <a:chOff x="0" y="0"/>
            <a:chExt cx="9650882" cy="35186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50880" cy="3518611"/>
            </a:xfrm>
            <a:custGeom>
              <a:avLst/>
              <a:gdLst/>
              <a:ahLst/>
              <a:cxnLst/>
              <a:rect r="r" b="b" t="t" l="l"/>
              <a:pathLst>
                <a:path h="3518611" w="9650880">
                  <a:moveTo>
                    <a:pt x="0" y="0"/>
                  </a:moveTo>
                  <a:lnTo>
                    <a:pt x="9650880" y="0"/>
                  </a:lnTo>
                  <a:lnTo>
                    <a:pt x="9650880" y="3518611"/>
                  </a:lnTo>
                  <a:lnTo>
                    <a:pt x="0" y="35186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61" r="0" b="104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650882" cy="357576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0D4A8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Environment Design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187997" y="3722608"/>
            <a:ext cx="7055282" cy="4175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5"/>
              </a:lnSpc>
            </a:pPr>
            <a:r>
              <a:rPr lang="en-US" sz="296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10×10 warehouse grid with a central depot. Each episode has 8 delivery tasks . </a:t>
            </a:r>
          </a:p>
          <a:p>
            <a:pPr algn="ctr">
              <a:lnSpc>
                <a:spcPts val="4795"/>
              </a:lnSpc>
            </a:pPr>
          </a:p>
          <a:p>
            <a:pPr algn="ctr">
              <a:lnSpc>
                <a:spcPts val="4795"/>
              </a:lnSpc>
            </a:pPr>
            <a:r>
              <a:rPr lang="en-US" sz="296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State encodes tasks remaining, urgency, agent energy %, and capacity used, all discretised. Visual dashboard shows grid, task locations, and agent positions.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1028700"/>
            <a:ext cx="7149957" cy="8044055"/>
            <a:chOff x="0" y="0"/>
            <a:chExt cx="12191035" cy="13715517"/>
          </a:xfrm>
        </p:grpSpPr>
        <p:sp>
          <p:nvSpPr>
            <p:cNvPr name="Freeform 9" id="9" descr="image69d4823f826c5"/>
            <p:cNvSpPr/>
            <p:nvPr/>
          </p:nvSpPr>
          <p:spPr>
            <a:xfrm flipH="false" flipV="false" rot="0">
              <a:off x="0" y="0"/>
              <a:ext cx="12190984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12190984">
                  <a:moveTo>
                    <a:pt x="0" y="0"/>
                  </a:moveTo>
                  <a:lnTo>
                    <a:pt x="12190984" y="0"/>
                  </a:lnTo>
                  <a:lnTo>
                    <a:pt x="12190984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0" r="-2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357" y="495357"/>
            <a:ext cx="17295838" cy="9295200"/>
            <a:chOff x="0" y="0"/>
            <a:chExt cx="23061117" cy="123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1040" cy="12393550"/>
            </a:xfrm>
            <a:custGeom>
              <a:avLst/>
              <a:gdLst/>
              <a:ahLst/>
              <a:cxnLst/>
              <a:rect r="r" b="b" t="t" l="l"/>
              <a:pathLst>
                <a:path h="12393550" w="23061040">
                  <a:moveTo>
                    <a:pt x="0" y="418719"/>
                  </a:moveTo>
                  <a:cubicBezTo>
                    <a:pt x="0" y="187452"/>
                    <a:pt x="187452" y="0"/>
                    <a:pt x="418719" y="0"/>
                  </a:cubicBezTo>
                  <a:lnTo>
                    <a:pt x="22642322" y="0"/>
                  </a:lnTo>
                  <a:cubicBezTo>
                    <a:pt x="22873588" y="0"/>
                    <a:pt x="23061040" y="187452"/>
                    <a:pt x="23061040" y="418719"/>
                  </a:cubicBezTo>
                  <a:lnTo>
                    <a:pt x="23061040" y="11974830"/>
                  </a:lnTo>
                  <a:cubicBezTo>
                    <a:pt x="23061040" y="12206098"/>
                    <a:pt x="22873588" y="12393550"/>
                    <a:pt x="22642322" y="12393550"/>
                  </a:cubicBezTo>
                  <a:lnTo>
                    <a:pt x="418719" y="12393550"/>
                  </a:lnTo>
                  <a:cubicBezTo>
                    <a:pt x="187452" y="12393549"/>
                    <a:pt x="0" y="12206097"/>
                    <a:pt x="0" y="11974830"/>
                  </a:cubicBezTo>
                  <a:close/>
                </a:path>
              </a:pathLst>
            </a:custGeom>
            <a:solidFill>
              <a:srgbClr val="FFF7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6640" y="1067038"/>
            <a:ext cx="10190883" cy="3142802"/>
            <a:chOff x="0" y="0"/>
            <a:chExt cx="13587844" cy="41904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87840" cy="4190400"/>
            </a:xfrm>
            <a:custGeom>
              <a:avLst/>
              <a:gdLst/>
              <a:ahLst/>
              <a:cxnLst/>
              <a:rect r="r" b="b" t="t" l="l"/>
              <a:pathLst>
                <a:path h="4190400" w="13587840">
                  <a:moveTo>
                    <a:pt x="0" y="0"/>
                  </a:moveTo>
                  <a:lnTo>
                    <a:pt x="13587840" y="0"/>
                  </a:lnTo>
                  <a:lnTo>
                    <a:pt x="13587840" y="4190400"/>
                  </a:lnTo>
                  <a:lnTo>
                    <a:pt x="0" y="419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2" r="0" b="-131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3587844" cy="424755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0D4A8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Agent Specifications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66640" y="4343733"/>
            <a:ext cx="10190883" cy="503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Two agent types: </a:t>
            </a:r>
            <a:r>
              <a:rPr lang="en-US" sz="3200" b="true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Drones : </a:t>
            </a:r>
            <a:r>
              <a:rPr lang="en-US" sz="3200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fast, capacity 3, battery 40 steps; </a:t>
            </a:r>
            <a:r>
              <a:rPr lang="en-US" sz="3200" b="true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Ground Robots</a:t>
            </a:r>
            <a:r>
              <a:rPr lang="en-US" sz="3200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true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3200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 slower, capacity 8, energy 120 steps. </a:t>
            </a:r>
          </a:p>
          <a:p>
            <a:pPr algn="l">
              <a:lnSpc>
                <a:spcPts val="5760"/>
              </a:lnSpc>
            </a:pPr>
            <a:r>
              <a:rPr lang="en-US" sz="3200" b="true">
                <a:solidFill>
                  <a:srgbClr val="242424"/>
                </a:solidFill>
                <a:latin typeface="Arimo Bold"/>
                <a:ea typeface="Arimo Bold"/>
                <a:cs typeface="Arimo Bold"/>
                <a:sym typeface="Arimo Bold"/>
              </a:rPr>
              <a:t>Actions</a:t>
            </a:r>
            <a:r>
              <a:rPr lang="en-US" sz="3200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: drone picks up nearest task, robot picks up nearest task, drone goes to depot to deliver, robot goes to depot to deliver. Design emphasizes trade-offs between speed, capacity, and energy.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761203" y="3028321"/>
            <a:ext cx="5420163" cy="5012636"/>
          </a:xfrm>
          <a:custGeom>
            <a:avLst/>
            <a:gdLst/>
            <a:ahLst/>
            <a:cxnLst/>
            <a:rect r="r" b="b" t="t" l="l"/>
            <a:pathLst>
              <a:path h="5012636" w="5420163">
                <a:moveTo>
                  <a:pt x="0" y="0"/>
                </a:moveTo>
                <a:lnTo>
                  <a:pt x="5420163" y="0"/>
                </a:lnTo>
                <a:lnTo>
                  <a:pt x="5420163" y="5012636"/>
                </a:lnTo>
                <a:lnTo>
                  <a:pt x="0" y="50126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357" y="495357"/>
            <a:ext cx="17295838" cy="9295200"/>
            <a:chOff x="0" y="0"/>
            <a:chExt cx="23061117" cy="123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1040" cy="12393550"/>
            </a:xfrm>
            <a:custGeom>
              <a:avLst/>
              <a:gdLst/>
              <a:ahLst/>
              <a:cxnLst/>
              <a:rect r="r" b="b" t="t" l="l"/>
              <a:pathLst>
                <a:path h="12393550" w="23061040">
                  <a:moveTo>
                    <a:pt x="0" y="418719"/>
                  </a:moveTo>
                  <a:cubicBezTo>
                    <a:pt x="0" y="187452"/>
                    <a:pt x="187452" y="0"/>
                    <a:pt x="418719" y="0"/>
                  </a:cubicBezTo>
                  <a:lnTo>
                    <a:pt x="22642322" y="0"/>
                  </a:lnTo>
                  <a:cubicBezTo>
                    <a:pt x="22873588" y="0"/>
                    <a:pt x="23061040" y="187452"/>
                    <a:pt x="23061040" y="418719"/>
                  </a:cubicBezTo>
                  <a:lnTo>
                    <a:pt x="23061040" y="11974830"/>
                  </a:lnTo>
                  <a:cubicBezTo>
                    <a:pt x="23061040" y="12206098"/>
                    <a:pt x="22873588" y="12393550"/>
                    <a:pt x="22642322" y="12393550"/>
                  </a:cubicBezTo>
                  <a:lnTo>
                    <a:pt x="418719" y="12393550"/>
                  </a:lnTo>
                  <a:cubicBezTo>
                    <a:pt x="187452" y="12393549"/>
                    <a:pt x="0" y="12206097"/>
                    <a:pt x="0" y="11974830"/>
                  </a:cubicBezTo>
                  <a:close/>
                </a:path>
              </a:pathLst>
            </a:custGeom>
            <a:solidFill>
              <a:srgbClr val="FFF7E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4238" y="3562531"/>
            <a:ext cx="15258240" cy="430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Learning uses </a:t>
            </a:r>
            <a:r>
              <a:rPr lang="en-US" sz="3200" i="tru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Q-Learning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with ε‑greedy exploration. Hyperparameters: </a:t>
            </a: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lr=0.15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gamma=0.95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ε decay=0.992. </a:t>
            </a:r>
          </a:p>
          <a:p>
            <a:pPr algn="l">
              <a:lnSpc>
                <a:spcPts val="5760"/>
              </a:lnSpc>
            </a:pPr>
          </a:p>
          <a:p>
            <a:pPr algn="l">
              <a:lnSpc>
                <a:spcPts val="5760"/>
              </a:lnSpc>
            </a:pP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State discretised: tasks remaining, urgency, agent energy %, capacity used. </a:t>
            </a: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 actions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assign to drone, assign to robot, dispatch urgent, move to depot, idle. 600 training episodes.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52874" y="985685"/>
            <a:ext cx="15429605" cy="2228402"/>
            <a:chOff x="0" y="0"/>
            <a:chExt cx="20572806" cy="29712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72800" cy="2971200"/>
            </a:xfrm>
            <a:custGeom>
              <a:avLst/>
              <a:gdLst/>
              <a:ahLst/>
              <a:cxnLst/>
              <a:rect r="r" b="b" t="t" l="l"/>
              <a:pathLst>
                <a:path h="2971200" w="20572800">
                  <a:moveTo>
                    <a:pt x="0" y="0"/>
                  </a:moveTo>
                  <a:lnTo>
                    <a:pt x="20572800" y="0"/>
                  </a:lnTo>
                  <a:lnTo>
                    <a:pt x="20572800" y="2971200"/>
                  </a:lnTo>
                  <a:lnTo>
                    <a:pt x="0" y="2971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915" r="0" b="-849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572806" cy="302835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0D4A8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Q-Learning Setup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85118" y="1502635"/>
            <a:ext cx="180718" cy="213836"/>
            <a:chOff x="0" y="0"/>
            <a:chExt cx="240957" cy="2851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27"/>
              <a:ext cx="240919" cy="284988"/>
            </a:xfrm>
            <a:custGeom>
              <a:avLst/>
              <a:gdLst/>
              <a:ahLst/>
              <a:cxnLst/>
              <a:rect r="r" b="b" t="t" l="l"/>
              <a:pathLst>
                <a:path h="284988" w="240919">
                  <a:moveTo>
                    <a:pt x="121539" y="0"/>
                  </a:moveTo>
                  <a:lnTo>
                    <a:pt x="79629" y="94234"/>
                  </a:lnTo>
                  <a:lnTo>
                    <a:pt x="0" y="144526"/>
                  </a:lnTo>
                  <a:lnTo>
                    <a:pt x="79629" y="190627"/>
                  </a:lnTo>
                  <a:lnTo>
                    <a:pt x="121539" y="284988"/>
                  </a:lnTo>
                  <a:lnTo>
                    <a:pt x="165481" y="190627"/>
                  </a:lnTo>
                  <a:lnTo>
                    <a:pt x="240919" y="144526"/>
                  </a:lnTo>
                  <a:lnTo>
                    <a:pt x="165481" y="94234"/>
                  </a:lnTo>
                  <a:lnTo>
                    <a:pt x="121539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1040" y="1018804"/>
            <a:ext cx="179280" cy="213836"/>
            <a:chOff x="0" y="0"/>
            <a:chExt cx="239039" cy="285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" y="0"/>
              <a:ext cx="238887" cy="285115"/>
            </a:xfrm>
            <a:custGeom>
              <a:avLst/>
              <a:gdLst/>
              <a:ahLst/>
              <a:cxnLst/>
              <a:rect r="r" b="b" t="t" l="l"/>
              <a:pathLst>
                <a:path h="285115" w="238887">
                  <a:moveTo>
                    <a:pt x="121539" y="0"/>
                  </a:moveTo>
                  <a:lnTo>
                    <a:pt x="75438" y="96520"/>
                  </a:lnTo>
                  <a:lnTo>
                    <a:pt x="0" y="142494"/>
                  </a:lnTo>
                  <a:lnTo>
                    <a:pt x="75438" y="190754"/>
                  </a:lnTo>
                  <a:lnTo>
                    <a:pt x="121539" y="285115"/>
                  </a:lnTo>
                  <a:lnTo>
                    <a:pt x="163449" y="190754"/>
                  </a:lnTo>
                  <a:lnTo>
                    <a:pt x="238887" y="142494"/>
                  </a:lnTo>
                  <a:lnTo>
                    <a:pt x="163449" y="96520"/>
                  </a:lnTo>
                  <a:lnTo>
                    <a:pt x="121539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1043" y="9056160"/>
            <a:ext cx="394564" cy="470164"/>
            <a:chOff x="0" y="0"/>
            <a:chExt cx="526085" cy="6268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" y="0"/>
              <a:ext cx="526034" cy="626872"/>
            </a:xfrm>
            <a:custGeom>
              <a:avLst/>
              <a:gdLst/>
              <a:ahLst/>
              <a:cxnLst/>
              <a:rect r="r" b="b" t="t" l="l"/>
              <a:pathLst>
                <a:path h="626872" w="526034">
                  <a:moveTo>
                    <a:pt x="261874" y="0"/>
                  </a:moveTo>
                  <a:lnTo>
                    <a:pt x="167513" y="209677"/>
                  </a:lnTo>
                  <a:lnTo>
                    <a:pt x="0" y="314452"/>
                  </a:lnTo>
                  <a:lnTo>
                    <a:pt x="167640" y="417195"/>
                  </a:lnTo>
                  <a:lnTo>
                    <a:pt x="262001" y="626872"/>
                  </a:lnTo>
                  <a:lnTo>
                    <a:pt x="356362" y="417195"/>
                  </a:lnTo>
                  <a:lnTo>
                    <a:pt x="526034" y="314452"/>
                  </a:lnTo>
                  <a:lnTo>
                    <a:pt x="356362" y="209550"/>
                  </a:lnTo>
                  <a:lnTo>
                    <a:pt x="261874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59600" y="8912162"/>
            <a:ext cx="180718" cy="213836"/>
            <a:chOff x="0" y="0"/>
            <a:chExt cx="240957" cy="2851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127"/>
              <a:ext cx="240919" cy="284988"/>
            </a:xfrm>
            <a:custGeom>
              <a:avLst/>
              <a:gdLst/>
              <a:ahLst/>
              <a:cxnLst/>
              <a:rect r="r" b="b" t="t" l="l"/>
              <a:pathLst>
                <a:path h="284988" w="240919">
                  <a:moveTo>
                    <a:pt x="121539" y="0"/>
                  </a:moveTo>
                  <a:lnTo>
                    <a:pt x="79629" y="94234"/>
                  </a:lnTo>
                  <a:lnTo>
                    <a:pt x="0" y="144526"/>
                  </a:lnTo>
                  <a:lnTo>
                    <a:pt x="79629" y="190627"/>
                  </a:lnTo>
                  <a:lnTo>
                    <a:pt x="121539" y="284988"/>
                  </a:lnTo>
                  <a:lnTo>
                    <a:pt x="165481" y="190627"/>
                  </a:lnTo>
                  <a:lnTo>
                    <a:pt x="240919" y="144526"/>
                  </a:lnTo>
                  <a:lnTo>
                    <a:pt x="165481" y="94234"/>
                  </a:lnTo>
                  <a:lnTo>
                    <a:pt x="121539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050244" y="606962"/>
            <a:ext cx="318964" cy="378724"/>
            <a:chOff x="0" y="0"/>
            <a:chExt cx="425285" cy="5049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5196" cy="504825"/>
            </a:xfrm>
            <a:custGeom>
              <a:avLst/>
              <a:gdLst/>
              <a:ahLst/>
              <a:cxnLst/>
              <a:rect r="r" b="b" t="t" l="l"/>
              <a:pathLst>
                <a:path h="504825" w="425196">
                  <a:moveTo>
                    <a:pt x="211582" y="0"/>
                  </a:moveTo>
                  <a:lnTo>
                    <a:pt x="136144" y="167640"/>
                  </a:lnTo>
                  <a:lnTo>
                    <a:pt x="0" y="251460"/>
                  </a:lnTo>
                  <a:lnTo>
                    <a:pt x="136144" y="337312"/>
                  </a:lnTo>
                  <a:lnTo>
                    <a:pt x="211582" y="504825"/>
                  </a:lnTo>
                  <a:lnTo>
                    <a:pt x="289052" y="337312"/>
                  </a:lnTo>
                  <a:lnTo>
                    <a:pt x="425196" y="251460"/>
                  </a:lnTo>
                  <a:lnTo>
                    <a:pt x="289052" y="167640"/>
                  </a:lnTo>
                  <a:lnTo>
                    <a:pt x="211582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861679" y="889921"/>
            <a:ext cx="394564" cy="470164"/>
            <a:chOff x="0" y="0"/>
            <a:chExt cx="526085" cy="6268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" y="0"/>
              <a:ext cx="526034" cy="626872"/>
            </a:xfrm>
            <a:custGeom>
              <a:avLst/>
              <a:gdLst/>
              <a:ahLst/>
              <a:cxnLst/>
              <a:rect r="r" b="b" t="t" l="l"/>
              <a:pathLst>
                <a:path h="626872" w="526034">
                  <a:moveTo>
                    <a:pt x="261874" y="0"/>
                  </a:moveTo>
                  <a:lnTo>
                    <a:pt x="169672" y="209677"/>
                  </a:lnTo>
                  <a:lnTo>
                    <a:pt x="0" y="312293"/>
                  </a:lnTo>
                  <a:lnTo>
                    <a:pt x="169672" y="417195"/>
                  </a:lnTo>
                  <a:lnTo>
                    <a:pt x="261874" y="626872"/>
                  </a:lnTo>
                  <a:lnTo>
                    <a:pt x="356235" y="417195"/>
                  </a:lnTo>
                  <a:lnTo>
                    <a:pt x="526034" y="312293"/>
                  </a:lnTo>
                  <a:lnTo>
                    <a:pt x="356235" y="209550"/>
                  </a:lnTo>
                  <a:lnTo>
                    <a:pt x="261874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700719" y="8791918"/>
            <a:ext cx="179280" cy="213836"/>
            <a:chOff x="0" y="0"/>
            <a:chExt cx="239039" cy="28511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127"/>
              <a:ext cx="239014" cy="284988"/>
            </a:xfrm>
            <a:custGeom>
              <a:avLst/>
              <a:gdLst/>
              <a:ahLst/>
              <a:cxnLst/>
              <a:rect r="r" b="b" t="t" l="l"/>
              <a:pathLst>
                <a:path h="284988" w="239014">
                  <a:moveTo>
                    <a:pt x="117348" y="0"/>
                  </a:moveTo>
                  <a:lnTo>
                    <a:pt x="75565" y="94234"/>
                  </a:lnTo>
                  <a:lnTo>
                    <a:pt x="0" y="140335"/>
                  </a:lnTo>
                  <a:lnTo>
                    <a:pt x="75565" y="188468"/>
                  </a:lnTo>
                  <a:lnTo>
                    <a:pt x="117475" y="284988"/>
                  </a:lnTo>
                  <a:lnTo>
                    <a:pt x="161417" y="188468"/>
                  </a:lnTo>
                  <a:lnTo>
                    <a:pt x="239014" y="140335"/>
                  </a:lnTo>
                  <a:lnTo>
                    <a:pt x="161417" y="9423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604637" y="8454238"/>
            <a:ext cx="394564" cy="470164"/>
            <a:chOff x="0" y="0"/>
            <a:chExt cx="526085" cy="6268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" y="0"/>
              <a:ext cx="526034" cy="626872"/>
            </a:xfrm>
            <a:custGeom>
              <a:avLst/>
              <a:gdLst/>
              <a:ahLst/>
              <a:cxnLst/>
              <a:rect r="r" b="b" t="t" l="l"/>
              <a:pathLst>
                <a:path h="626872" w="526034">
                  <a:moveTo>
                    <a:pt x="261874" y="0"/>
                  </a:moveTo>
                  <a:lnTo>
                    <a:pt x="167513" y="209677"/>
                  </a:lnTo>
                  <a:lnTo>
                    <a:pt x="0" y="314452"/>
                  </a:lnTo>
                  <a:lnTo>
                    <a:pt x="167640" y="417195"/>
                  </a:lnTo>
                  <a:lnTo>
                    <a:pt x="262001" y="626872"/>
                  </a:lnTo>
                  <a:lnTo>
                    <a:pt x="356362" y="417195"/>
                  </a:lnTo>
                  <a:lnTo>
                    <a:pt x="526034" y="314452"/>
                  </a:lnTo>
                  <a:lnTo>
                    <a:pt x="356362" y="209550"/>
                  </a:lnTo>
                  <a:lnTo>
                    <a:pt x="261874" y="0"/>
                  </a:lnTo>
                  <a:close/>
                </a:path>
              </a:pathLst>
            </a:custGeom>
            <a:solidFill>
              <a:srgbClr val="EAD2C3"/>
            </a:solid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357" y="495357"/>
            <a:ext cx="17295838" cy="9295200"/>
            <a:chOff x="0" y="0"/>
            <a:chExt cx="23061117" cy="123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1040" cy="12393550"/>
            </a:xfrm>
            <a:custGeom>
              <a:avLst/>
              <a:gdLst/>
              <a:ahLst/>
              <a:cxnLst/>
              <a:rect r="r" b="b" t="t" l="l"/>
              <a:pathLst>
                <a:path h="12393550" w="23061040">
                  <a:moveTo>
                    <a:pt x="0" y="418719"/>
                  </a:moveTo>
                  <a:cubicBezTo>
                    <a:pt x="0" y="187452"/>
                    <a:pt x="187452" y="0"/>
                    <a:pt x="418719" y="0"/>
                  </a:cubicBezTo>
                  <a:lnTo>
                    <a:pt x="22642322" y="0"/>
                  </a:lnTo>
                  <a:cubicBezTo>
                    <a:pt x="22873588" y="0"/>
                    <a:pt x="23061040" y="187452"/>
                    <a:pt x="23061040" y="418719"/>
                  </a:cubicBezTo>
                  <a:lnTo>
                    <a:pt x="23061040" y="11974830"/>
                  </a:lnTo>
                  <a:cubicBezTo>
                    <a:pt x="23061040" y="12206098"/>
                    <a:pt x="22873588" y="12393550"/>
                    <a:pt x="22642322" y="12393550"/>
                  </a:cubicBezTo>
                  <a:lnTo>
                    <a:pt x="418719" y="12393550"/>
                  </a:lnTo>
                  <a:cubicBezTo>
                    <a:pt x="187452" y="12393549"/>
                    <a:pt x="0" y="12206097"/>
                    <a:pt x="0" y="11974830"/>
                  </a:cubicBezTo>
                  <a:close/>
                </a:path>
              </a:pathLst>
            </a:custGeom>
            <a:solidFill>
              <a:srgbClr val="FFF7E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096557" y="2066263"/>
            <a:ext cx="4388396" cy="201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b="true">
                <a:solidFill>
                  <a:srgbClr val="0D4A8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096557" y="2857681"/>
            <a:ext cx="7238162" cy="2856957"/>
            <a:chOff x="0" y="0"/>
            <a:chExt cx="9650882" cy="38092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50880" cy="3809280"/>
            </a:xfrm>
            <a:custGeom>
              <a:avLst/>
              <a:gdLst/>
              <a:ahLst/>
              <a:cxnLst/>
              <a:rect r="r" b="b" t="t" l="l"/>
              <a:pathLst>
                <a:path h="3809280" w="9650880">
                  <a:moveTo>
                    <a:pt x="0" y="0"/>
                  </a:moveTo>
                  <a:lnTo>
                    <a:pt x="9650880" y="0"/>
                  </a:lnTo>
                  <a:lnTo>
                    <a:pt x="9650880" y="3809280"/>
                  </a:lnTo>
                  <a:lnTo>
                    <a:pt x="0" y="3809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2" t="0" r="-64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9650882" cy="389500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0D4A8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Evaluation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1950" y="1469484"/>
            <a:ext cx="6180672" cy="6953562"/>
            <a:chOff x="0" y="0"/>
            <a:chExt cx="12191035" cy="13715517"/>
          </a:xfrm>
        </p:grpSpPr>
        <p:sp>
          <p:nvSpPr>
            <p:cNvPr name="Freeform 9" id="9" descr="image69d4823f8e8ef"/>
            <p:cNvSpPr/>
            <p:nvPr/>
          </p:nvSpPr>
          <p:spPr>
            <a:xfrm flipH="false" flipV="false" rot="0">
              <a:off x="0" y="0"/>
              <a:ext cx="12190984" cy="13715492"/>
            </a:xfrm>
            <a:custGeom>
              <a:avLst/>
              <a:gdLst/>
              <a:ahLst/>
              <a:cxnLst/>
              <a:rect r="r" b="b" t="t" l="l"/>
              <a:pathLst>
                <a:path h="13715492" w="12190984">
                  <a:moveTo>
                    <a:pt x="0" y="0"/>
                  </a:moveTo>
                  <a:lnTo>
                    <a:pt x="12190984" y="0"/>
                  </a:lnTo>
                  <a:lnTo>
                    <a:pt x="12190984" y="13715492"/>
                  </a:lnTo>
                  <a:lnTo>
                    <a:pt x="0" y="13715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t="0" r="-2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357" y="495357"/>
            <a:ext cx="17295838" cy="9295200"/>
            <a:chOff x="0" y="0"/>
            <a:chExt cx="23061117" cy="123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1040" cy="12393550"/>
            </a:xfrm>
            <a:custGeom>
              <a:avLst/>
              <a:gdLst/>
              <a:ahLst/>
              <a:cxnLst/>
              <a:rect r="r" b="b" t="t" l="l"/>
              <a:pathLst>
                <a:path h="12393550" w="23061040">
                  <a:moveTo>
                    <a:pt x="0" y="418719"/>
                  </a:moveTo>
                  <a:cubicBezTo>
                    <a:pt x="0" y="187452"/>
                    <a:pt x="187452" y="0"/>
                    <a:pt x="418719" y="0"/>
                  </a:cubicBezTo>
                  <a:lnTo>
                    <a:pt x="22642322" y="0"/>
                  </a:lnTo>
                  <a:cubicBezTo>
                    <a:pt x="22873588" y="0"/>
                    <a:pt x="23061040" y="187452"/>
                    <a:pt x="23061040" y="418719"/>
                  </a:cubicBezTo>
                  <a:lnTo>
                    <a:pt x="23061040" y="11974830"/>
                  </a:lnTo>
                  <a:cubicBezTo>
                    <a:pt x="23061040" y="12206098"/>
                    <a:pt x="22873588" y="12393550"/>
                    <a:pt x="22642322" y="12393550"/>
                  </a:cubicBezTo>
                  <a:lnTo>
                    <a:pt x="418719" y="12393550"/>
                  </a:lnTo>
                  <a:cubicBezTo>
                    <a:pt x="187452" y="12393549"/>
                    <a:pt x="0" y="12206097"/>
                    <a:pt x="0" y="11974830"/>
                  </a:cubicBezTo>
                  <a:close/>
                </a:path>
              </a:pathLst>
            </a:custGeom>
            <a:solidFill>
              <a:srgbClr val="FFF7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57" y="952557"/>
            <a:ext cx="16382162" cy="1904400"/>
            <a:chOff x="0" y="0"/>
            <a:chExt cx="21842882" cy="253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2881" cy="2539200"/>
            </a:xfrm>
            <a:custGeom>
              <a:avLst/>
              <a:gdLst/>
              <a:ahLst/>
              <a:cxnLst/>
              <a:rect r="r" b="b" t="t" l="l"/>
              <a:pathLst>
                <a:path h="2539200" w="21842881">
                  <a:moveTo>
                    <a:pt x="0" y="0"/>
                  </a:moveTo>
                  <a:lnTo>
                    <a:pt x="21842881" y="0"/>
                  </a:lnTo>
                  <a:lnTo>
                    <a:pt x="21842881" y="2539200"/>
                  </a:lnTo>
                  <a:lnTo>
                    <a:pt x="0" y="253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615" r="0" b="-11761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842882" cy="259635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0D4A8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Reward &amp; Metrics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3997" y="3646408"/>
            <a:ext cx="16199282" cy="286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Reward</a:t>
            </a:r>
            <a:r>
              <a:rPr lang="en-US" sz="3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+15 delivery, +3 pickup, −0.2 per step, −25 exhaustion.</a:t>
            </a:r>
          </a:p>
          <a:p>
            <a:pPr algn="ctr">
              <a:lnSpc>
                <a:spcPts val="5760"/>
              </a:lnSpc>
            </a:pPr>
          </a:p>
          <a:p>
            <a:pPr algn="ctr">
              <a:lnSpc>
                <a:spcPts val="5760"/>
              </a:lnSpc>
            </a:pPr>
            <a:r>
              <a:rPr lang="en-US" b="true" sz="3200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Key metrics: total deliveries, average reward per episode, completion time, exhaustion rate, and stability of the learning curve.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357" y="495357"/>
            <a:ext cx="17295838" cy="9295200"/>
            <a:chOff x="0" y="0"/>
            <a:chExt cx="23061117" cy="123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1040" cy="12393550"/>
            </a:xfrm>
            <a:custGeom>
              <a:avLst/>
              <a:gdLst/>
              <a:ahLst/>
              <a:cxnLst/>
              <a:rect r="r" b="b" t="t" l="l"/>
              <a:pathLst>
                <a:path h="12393550" w="23061040">
                  <a:moveTo>
                    <a:pt x="0" y="418719"/>
                  </a:moveTo>
                  <a:cubicBezTo>
                    <a:pt x="0" y="187452"/>
                    <a:pt x="187452" y="0"/>
                    <a:pt x="418719" y="0"/>
                  </a:cubicBezTo>
                  <a:lnTo>
                    <a:pt x="22642322" y="0"/>
                  </a:lnTo>
                  <a:cubicBezTo>
                    <a:pt x="22873588" y="0"/>
                    <a:pt x="23061040" y="187452"/>
                    <a:pt x="23061040" y="418719"/>
                  </a:cubicBezTo>
                  <a:lnTo>
                    <a:pt x="23061040" y="11974830"/>
                  </a:lnTo>
                  <a:cubicBezTo>
                    <a:pt x="23061040" y="12206098"/>
                    <a:pt x="22873588" y="12393550"/>
                    <a:pt x="22642322" y="12393550"/>
                  </a:cubicBezTo>
                  <a:lnTo>
                    <a:pt x="418719" y="12393550"/>
                  </a:lnTo>
                  <a:cubicBezTo>
                    <a:pt x="187452" y="12393549"/>
                    <a:pt x="0" y="12206097"/>
                    <a:pt x="0" y="11974830"/>
                  </a:cubicBezTo>
                  <a:close/>
                </a:path>
              </a:pathLst>
            </a:custGeom>
            <a:solidFill>
              <a:srgbClr val="FFF7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-834979"/>
            <a:ext cx="10190883" cy="3142802"/>
            <a:chOff x="0" y="0"/>
            <a:chExt cx="13587844" cy="41904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87840" cy="4190400"/>
            </a:xfrm>
            <a:custGeom>
              <a:avLst/>
              <a:gdLst/>
              <a:ahLst/>
              <a:cxnLst/>
              <a:rect r="r" b="b" t="t" l="l"/>
              <a:pathLst>
                <a:path h="4190400" w="13587840">
                  <a:moveTo>
                    <a:pt x="0" y="0"/>
                  </a:moveTo>
                  <a:lnTo>
                    <a:pt x="13587840" y="0"/>
                  </a:lnTo>
                  <a:lnTo>
                    <a:pt x="13587840" y="4190400"/>
                  </a:lnTo>
                  <a:lnTo>
                    <a:pt x="0" y="419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2" r="0" b="-131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3587844" cy="424755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0D4A8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Baseline Comparison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2028611"/>
            <a:ext cx="11013746" cy="7792225"/>
          </a:xfrm>
          <a:custGeom>
            <a:avLst/>
            <a:gdLst/>
            <a:ahLst/>
            <a:cxnLst/>
            <a:rect r="r" b="b" t="t" l="l"/>
            <a:pathLst>
              <a:path h="7792225" w="11013746">
                <a:moveTo>
                  <a:pt x="0" y="0"/>
                </a:moveTo>
                <a:lnTo>
                  <a:pt x="11013746" y="0"/>
                </a:lnTo>
                <a:lnTo>
                  <a:pt x="11013746" y="7792225"/>
                </a:lnTo>
                <a:lnTo>
                  <a:pt x="0" y="7792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36817" y="4192369"/>
            <a:ext cx="4606716" cy="213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b="true" sz="3200" i="true">
                <a:solidFill>
                  <a:srgbClr val="242424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 Q-agent 1.91, Random 1.57, Greedy 1.01, +21.9% improvement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3951" y="559504"/>
            <a:ext cx="11301259" cy="4803035"/>
          </a:xfrm>
          <a:custGeom>
            <a:avLst/>
            <a:gdLst/>
            <a:ahLst/>
            <a:cxnLst/>
            <a:rect r="r" b="b" t="t" l="l"/>
            <a:pathLst>
              <a:path h="4803035" w="11301259">
                <a:moveTo>
                  <a:pt x="0" y="0"/>
                </a:moveTo>
                <a:lnTo>
                  <a:pt x="11301259" y="0"/>
                </a:lnTo>
                <a:lnTo>
                  <a:pt x="11301259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019369" y="4346548"/>
            <a:ext cx="9365178" cy="1791090"/>
          </a:xfrm>
          <a:custGeom>
            <a:avLst/>
            <a:gdLst/>
            <a:ahLst/>
            <a:cxnLst/>
            <a:rect r="r" b="b" t="t" l="l"/>
            <a:pathLst>
              <a:path h="1791090" w="9365178">
                <a:moveTo>
                  <a:pt x="0" y="0"/>
                </a:moveTo>
                <a:lnTo>
                  <a:pt x="9365178" y="0"/>
                </a:lnTo>
                <a:lnTo>
                  <a:pt x="9365178" y="1791090"/>
                </a:lnTo>
                <a:lnTo>
                  <a:pt x="0" y="1791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3951" y="5645498"/>
            <a:ext cx="9501093" cy="4216110"/>
          </a:xfrm>
          <a:custGeom>
            <a:avLst/>
            <a:gdLst/>
            <a:ahLst/>
            <a:cxnLst/>
            <a:rect r="r" b="b" t="t" l="l"/>
            <a:pathLst>
              <a:path h="4216110" w="9501093">
                <a:moveTo>
                  <a:pt x="0" y="0"/>
                </a:moveTo>
                <a:lnTo>
                  <a:pt x="9501093" y="0"/>
                </a:lnTo>
                <a:lnTo>
                  <a:pt x="9501093" y="4216110"/>
                </a:lnTo>
                <a:lnTo>
                  <a:pt x="0" y="4216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1517275" y="4182657"/>
            <a:ext cx="9365178" cy="2118872"/>
          </a:xfrm>
          <a:custGeom>
            <a:avLst/>
            <a:gdLst/>
            <a:ahLst/>
            <a:cxnLst/>
            <a:rect r="r" b="b" t="t" l="l"/>
            <a:pathLst>
              <a:path h="2118872" w="9365178">
                <a:moveTo>
                  <a:pt x="0" y="0"/>
                </a:moveTo>
                <a:lnTo>
                  <a:pt x="9365178" y="0"/>
                </a:lnTo>
                <a:lnTo>
                  <a:pt x="9365178" y="2118872"/>
                </a:lnTo>
                <a:lnTo>
                  <a:pt x="0" y="2118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357" y="495357"/>
            <a:ext cx="17295838" cy="9295200"/>
            <a:chOff x="0" y="0"/>
            <a:chExt cx="23061117" cy="123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1040" cy="12393550"/>
            </a:xfrm>
            <a:custGeom>
              <a:avLst/>
              <a:gdLst/>
              <a:ahLst/>
              <a:cxnLst/>
              <a:rect r="r" b="b" t="t" l="l"/>
              <a:pathLst>
                <a:path h="12393550" w="23061040">
                  <a:moveTo>
                    <a:pt x="0" y="418719"/>
                  </a:moveTo>
                  <a:cubicBezTo>
                    <a:pt x="0" y="187452"/>
                    <a:pt x="187452" y="0"/>
                    <a:pt x="418719" y="0"/>
                  </a:cubicBezTo>
                  <a:lnTo>
                    <a:pt x="22642322" y="0"/>
                  </a:lnTo>
                  <a:cubicBezTo>
                    <a:pt x="22873588" y="0"/>
                    <a:pt x="23061040" y="187452"/>
                    <a:pt x="23061040" y="418719"/>
                  </a:cubicBezTo>
                  <a:lnTo>
                    <a:pt x="23061040" y="11974830"/>
                  </a:lnTo>
                  <a:cubicBezTo>
                    <a:pt x="23061040" y="12206098"/>
                    <a:pt x="22873588" y="12393550"/>
                    <a:pt x="22642322" y="12393550"/>
                  </a:cubicBezTo>
                  <a:lnTo>
                    <a:pt x="418719" y="12393550"/>
                  </a:lnTo>
                  <a:cubicBezTo>
                    <a:pt x="187452" y="12393549"/>
                    <a:pt x="0" y="12206097"/>
                    <a:pt x="0" y="11974830"/>
                  </a:cubicBezTo>
                  <a:close/>
                </a:path>
              </a:pathLst>
            </a:custGeom>
            <a:solidFill>
              <a:srgbClr val="FFF7E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6640" y="1067038"/>
            <a:ext cx="10190883" cy="3142802"/>
            <a:chOff x="0" y="0"/>
            <a:chExt cx="13587844" cy="41904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87840" cy="4190400"/>
            </a:xfrm>
            <a:custGeom>
              <a:avLst/>
              <a:gdLst/>
              <a:ahLst/>
              <a:cxnLst/>
              <a:rect r="r" b="b" t="t" l="l"/>
              <a:pathLst>
                <a:path h="4190400" w="13587840">
                  <a:moveTo>
                    <a:pt x="0" y="0"/>
                  </a:moveTo>
                  <a:lnTo>
                    <a:pt x="13587840" y="0"/>
                  </a:lnTo>
                  <a:lnTo>
                    <a:pt x="13587840" y="4190400"/>
                  </a:lnTo>
                  <a:lnTo>
                    <a:pt x="0" y="419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2" r="0" b="-131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3587844" cy="424755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0D4A8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66640" y="4419933"/>
            <a:ext cx="10190883" cy="357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5"/>
              </a:lnSpc>
            </a:pPr>
            <a:r>
              <a:rPr lang="en-US" sz="2960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Preliminary solution demonstrates learning under resource constraints with measurable gains over baselines. </a:t>
            </a:r>
          </a:p>
          <a:p>
            <a:pPr algn="l">
              <a:lnSpc>
                <a:spcPts val="4795"/>
              </a:lnSpc>
            </a:pPr>
          </a:p>
          <a:p>
            <a:pPr algn="l">
              <a:lnSpc>
                <a:spcPts val="4795"/>
              </a:lnSpc>
            </a:pPr>
            <a:r>
              <a:rPr lang="en-US" sz="2960">
                <a:solidFill>
                  <a:srgbClr val="242424"/>
                </a:solidFill>
                <a:latin typeface="Arimo"/>
                <a:ea typeface="Arimo"/>
                <a:cs typeface="Arimo"/>
                <a:sym typeface="Arimo"/>
              </a:rPr>
              <a:t>Deliverables: Q-agent achieves 1.91 tasks/episode vs 1.57 random baseline : a 21.9% improvement, with a clear upward learning curve from episode 1.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761203" y="3028321"/>
            <a:ext cx="5420163" cy="5012636"/>
          </a:xfrm>
          <a:custGeom>
            <a:avLst/>
            <a:gdLst/>
            <a:ahLst/>
            <a:cxnLst/>
            <a:rect r="r" b="b" t="t" l="l"/>
            <a:pathLst>
              <a:path h="5012636" w="5420163">
                <a:moveTo>
                  <a:pt x="0" y="0"/>
                </a:moveTo>
                <a:lnTo>
                  <a:pt x="5420163" y="0"/>
                </a:lnTo>
                <a:lnTo>
                  <a:pt x="5420163" y="5012636"/>
                </a:lnTo>
                <a:lnTo>
                  <a:pt x="0" y="50126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C2C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5357" y="495357"/>
            <a:ext cx="17295838" cy="9295200"/>
            <a:chOff x="0" y="0"/>
            <a:chExt cx="23061117" cy="12393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61040" cy="12393550"/>
            </a:xfrm>
            <a:custGeom>
              <a:avLst/>
              <a:gdLst/>
              <a:ahLst/>
              <a:cxnLst/>
              <a:rect r="r" b="b" t="t" l="l"/>
              <a:pathLst>
                <a:path h="12393550" w="23061040">
                  <a:moveTo>
                    <a:pt x="0" y="418719"/>
                  </a:moveTo>
                  <a:cubicBezTo>
                    <a:pt x="0" y="187452"/>
                    <a:pt x="187452" y="0"/>
                    <a:pt x="418719" y="0"/>
                  </a:cubicBezTo>
                  <a:lnTo>
                    <a:pt x="22642322" y="0"/>
                  </a:lnTo>
                  <a:cubicBezTo>
                    <a:pt x="22873588" y="0"/>
                    <a:pt x="23061040" y="187452"/>
                    <a:pt x="23061040" y="418719"/>
                  </a:cubicBezTo>
                  <a:lnTo>
                    <a:pt x="23061040" y="11974830"/>
                  </a:lnTo>
                  <a:cubicBezTo>
                    <a:pt x="23061040" y="12206098"/>
                    <a:pt x="22873588" y="12393550"/>
                    <a:pt x="22642322" y="12393550"/>
                  </a:cubicBezTo>
                  <a:lnTo>
                    <a:pt x="418719" y="12393550"/>
                  </a:lnTo>
                  <a:cubicBezTo>
                    <a:pt x="187452" y="12393549"/>
                    <a:pt x="0" y="12206097"/>
                    <a:pt x="0" y="11974830"/>
                  </a:cubicBezTo>
                  <a:close/>
                </a:path>
              </a:pathLst>
            </a:custGeom>
            <a:solidFill>
              <a:srgbClr val="FFF7E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03154" y="4028189"/>
            <a:ext cx="9390964" cy="2134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>
                <a:solidFill>
                  <a:srgbClr val="0D4A80"/>
                </a:solidFill>
                <a:latin typeface="Poppins"/>
                <a:ea typeface="Poppins"/>
                <a:cs typeface="Poppins"/>
                <a:sym typeface="Poppins"/>
              </a:rPr>
              <a:t>THANKS!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DAHGIwR9LB8</dc:identifier>
  <dcterms:modified xsi:type="dcterms:W3CDTF">2011-08-01T06:04:30Z</dcterms:modified>
  <cp:revision>1</cp:revision>
  <dc:title>Learning_Constraints</dc:title>
</cp:coreProperties>
</file>